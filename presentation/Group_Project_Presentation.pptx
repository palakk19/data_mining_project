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Comparative Machine Learning &amp; Sensitivity Analysis</a:t>
            </a:r>
          </a:p>
          <a:p>
            <a:pPr>
              <a:defRPr sz="1800">
                <a:solidFill>
                  <a:srgbClr val="B4CDEB"/>
                </a:solidFill>
              </a:defRPr>
            </a:pPr>
            <a:r>
              <a:t>Evaluating 8 Algorithms on UCI Breast Cancer Wisconsin (Diagnostic)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E6F5"/>
                </a:solidFill>
              </a:defRPr>
            </a:pPr>
            <a:r>
              <a:t>Course: Data Mining Group Project  |  Target Presentation Time: 8-9 Minutes</a:t>
            </a:r>
          </a:p>
          <a:p>
            <a:pPr>
              <a:defRPr sz="1200">
                <a:solidFill>
                  <a:srgbClr val="B4C3D7"/>
                </a:solidFill>
              </a:defRPr>
            </a:pPr>
            <a:r>
              <a:t>Group Members: Member 1 (Neural Network), Member 2 (SVM), Member 3 (Random Forest), Member 4 (Gradient Boosting), Member 5 (k-NN), Member 6 (Decision Tree), Member 7 (Logistic Regression), Member 8 (Naive Bayes)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DATA MINING GROUP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33C"/>
                </a:solidFill>
              </a:defRPr>
            </a:pPr>
            <a:r>
              <a:t>Problem Statement &amp; Clinical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800" b="1">
                <a:solidFill>
                  <a:srgbClr val="14233C"/>
                </a:solidFill>
              </a:defRPr>
            </a:pPr>
            <a:r>
              <a:t>Clinical Problem Definition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Breast cancer is one of the leading causes of cancer mortality globally.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Diagnostic Fine Needle Aspirate (FNA) procedure extracts cell nuclei images from breast mass samples.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Manual microscopic examination is time-consuming and prone to human diagnostic variability.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Goal: Develop an automated, high-precision machine learning classifier to accurately distinguish Benign (non-cancerous) from Malignant (cancerous) tissue.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800" b="1">
                <a:solidFill>
                  <a:srgbClr val="14233C"/>
                </a:solidFill>
              </a:defRPr>
            </a:pPr>
            <a:r>
              <a:t>Project Objectives &amp; Constraints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Standardized Pipeline: Establish a fair 80/20 train/test split to benchmark 8 distinct ML algorithms.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Sensitivity Analysis: Systematically tune hyperparameter values on 5-fold cross-validation training data.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Comparative Evaluation: Test best hyperparameter configurations on held-out test data.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Primary Metrics: Accuracy, Precision, Recall (Sensitivity to minimize false negatives in cancer diagnosis), and F1-Score.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DATA MINING GROUP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33C"/>
                </a:solidFill>
              </a:defRPr>
            </a:pPr>
            <a:r>
              <a:t>Dataset Specifications &amp; Preprocessing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800" b="1">
                <a:solidFill>
                  <a:srgbClr val="14233C"/>
                </a:solidFill>
              </a:defRPr>
            </a:pPr>
            <a:r>
              <a:t>UCI Dataset Overview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Dataset Source: UCI Machine Learning Repository (Breast Cancer Wisconsin Diagnostic).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Total Instances: 569 patient samples.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Feature Dimensions: 30 continuous numerical features computed from FNA digitized images (radius, texture, perimeter, area, smoothness, concavity, etc.).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Class Distribution: 357 Benign cases (62.7%), 212 Malignant cases (37.3%).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Data Quality: 0 missing values across all features.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800" b="1">
                <a:solidFill>
                  <a:srgbClr val="14233C"/>
                </a:solidFill>
              </a:defRPr>
            </a:pPr>
            <a:r>
              <a:t>Data Preprocessing Steps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1. ID Removal: Excluded administrative patient IDs to prevent artificial feature memorization.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2. Stratified 80/20 Split: 455 training samples, 114 testing samples with identical class proportions.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3. Z-Score Standardization (StandardScaler): Re-scaled features to mean 0 and variance 1.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4. Strict Leakage Prevention: Scaler parameters (mu, sigma) were fitted EXCLUSIVELY on the training set and applied to the test 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DATA MINING GROUP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33C"/>
                </a:solidFill>
              </a:defRPr>
            </a:pPr>
            <a:r>
              <a:t>Algorithms 1 &amp; 2: Neural Network (MLP) &amp; Support Vector Machine (SVM)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700" b="1">
                <a:solidFill>
                  <a:srgbClr val="14233C"/>
                </a:solidFill>
              </a:defRPr>
            </a:pPr>
            <a:r>
              <a:t>Member 1: Neural Network (MLP)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Sensitivity Parameter: Hidden Layer Topology (Neurons per layer).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Optimal Setting: hidden_layer_sizes = (50, 25) with relu activation.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5-Fold CV Train Accuracy: 98.68%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Final Test Accuracy: 96.49%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Precision: 98.57%  |  Recall: 95.83%  |  F1: 97.18%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Key Insight: Multi-layer architectures capture non-linear feature interactions cleanly, but require L2 regularization (alpha=5.0) to avoid slight overfitting.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700" b="1">
                <a:solidFill>
                  <a:srgbClr val="14233C"/>
                </a:solidFill>
              </a:defRPr>
            </a:pPr>
            <a:r>
              <a:t>Member 2: Support Vector Machine (SVM)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Sensitivity Parameter: Regularization Parameter C (RBF Kernel).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Optimal Setting: C = 5.0 with Radial Basis Function kernel.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5-Fold CV Train Accuracy: 97.58%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Final Test Accuracy: 98.25%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Precision: 98.61%  |  Recall: 98.61%  |  F1: 98.61%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Key Insight: RBF kernel maps features into high-dimensional space where cancer diagnosis is linearly separable with maximum margin penalty C=5.0.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DATA MINING GROUP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33C"/>
                </a:solidFill>
              </a:defRPr>
            </a:pPr>
            <a:r>
              <a:t>Algorithms 3 &amp; 4: Random Forest &amp; Gradient Boosting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700" b="1">
                <a:solidFill>
                  <a:srgbClr val="14233C"/>
                </a:solidFill>
              </a:defRPr>
            </a:pPr>
            <a:r>
              <a:t>Member 3: Random Forest Classifier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Sensitivity Parameter: Number of Trees (n_estimators).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Optimal Setting: n_estimators = 150 decision trees.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5-Fold CV Train Accuracy: 96.04%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Final Test Accuracy: 95.61%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Precision: 95.89%  |  Recall: 97.22%  |  F1: 96.55%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Key Insight: Ensemble bagging reduces variance significantly. Performance reaches a plateau after 150 trees due to diminishing returns in bagging.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700" b="1">
                <a:solidFill>
                  <a:srgbClr val="14233C"/>
                </a:solidFill>
              </a:defRPr>
            </a:pPr>
            <a:r>
              <a:t>Member 4: Gradient Boosting (GBDT)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Sensitivity Parameter: Learning Rate (learning_rate).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Optimal Setting: learning_rate = 0.5 (n_estimators = 100).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5-Fold CV Train Accuracy: 96.48%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Final Test Accuracy: 95.61%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Precision: 94.67%  |  Recall: 98.61%  |  F1: 96.60%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Key Insight: Sequential boosting corrects residual errors from previous trees, achieving high recall (98.61%) which is critical in clinical screening.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DATA MINING GROUP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33C"/>
                </a:solidFill>
              </a:defRPr>
            </a:pPr>
            <a:r>
              <a:t>Algorithms 5 &amp; 6: k-Nearest Neighbors (k-NN) &amp; Decision Tree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700" b="1">
                <a:solidFill>
                  <a:srgbClr val="14233C"/>
                </a:solidFill>
              </a:defRPr>
            </a:pPr>
            <a:r>
              <a:t>Member 5: k-Nearest Neighbors (k-NN)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Sensitivity Parameter: Number of Neighbors k (n_neighbors).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Optimal Setting: k = 3 nearest neighbors (Euclidean metric).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5-Fold CV Train Accuracy: 96.92%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Final Test Accuracy: 98.25%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Precision: 97.30%  |  Recall: 100.0%  |  F1: 98.63%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Key Insight: Achieved 100% recall on test data! Benefited immensely from Z-score feature scaling, allowing accurate local distance calculations.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700" b="1">
                <a:solidFill>
                  <a:srgbClr val="14233C"/>
                </a:solidFill>
              </a:defRPr>
            </a:pPr>
            <a:r>
              <a:t>Member 6: Decision Tree Classifier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Sensitivity Parameter: Maximum Depth (max_depth).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Optimal Setting: max_depth = 4 levels.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5-Fold CV Train Accuracy: 93.85%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Final Test Accuracy: 93.86%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Precision: 95.77%  |  Recall: 94.44%  |  F1: 95.10%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Key Insight: High interpretability via rule extraction. However, single trees are prone to axis-aligned splits, resulting in lowest accuracy among all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DATA MINING GROUP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33C"/>
                </a:solidFill>
              </a:defRPr>
            </a:pPr>
            <a:r>
              <a:t>Algorithms 7 &amp; 8: Logistic Regression &amp; Naive Bayes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700" b="1">
                <a:solidFill>
                  <a:srgbClr val="14233C"/>
                </a:solidFill>
              </a:defRPr>
            </a:pPr>
            <a:r>
              <a:t>Member 7: Logistic Regression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Sensitivity Parameter: Regularization Parameter C.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Optimal Setting: C = 0.1 (L2 Regularized).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5-Fold CV Train Accuracy: 98.02%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Final Test Accuracy: 97.37%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Precision: 97.26%  |  Recall: 98.61%  |  F1: 97.93%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Key Insight: Strong linear baseline. Regularization C=0.1 prevents extreme coefficient values and provides probabilistic tumor risk outputs.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700" b="1">
                <a:solidFill>
                  <a:srgbClr val="14233C"/>
                </a:solidFill>
              </a:defRPr>
            </a:pPr>
            <a:r>
              <a:t>Member 8: Gaussian Naive Bayes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Sensitivity Parameter: Variance Smoothing (var_smoothing).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Optimal Setting: var_smoothing = 0.1.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5-Fold CV Train Accuracy: 93.63%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Final Test Accuracy: 94.74%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Precision: 94.59%  |  Recall: 97.22%  |  F1: 95.89%</a:t>
            </a:r>
          </a:p>
          <a:p>
            <a:pPr>
              <a:defRPr sz="1200">
                <a:solidFill>
                  <a:srgbClr val="1E1E1E"/>
                </a:solidFill>
              </a:defRPr>
            </a:pPr>
            <a:r>
              <a:t>• Key Insight: Fast probabilistic inference. Performs well despite independence assumption, though feature correlation slightly limits top-tier accuracy.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DATA MINING GROUP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33C"/>
                </a:solidFill>
              </a:defRPr>
            </a:pPr>
            <a:r>
              <a:t>Master Comparison Table: All 8 Group Algorithms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377440"/>
                <a:gridCol w="2011680"/>
                <a:gridCol w="1188720"/>
                <a:gridCol w="1188720"/>
                <a:gridCol w="1188720"/>
                <a:gridCol w="1188720"/>
              </a:tblGrid>
              <a:tr h="5283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Member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Best Parameter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CV Train Acc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Acc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Member 1 (You)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Neural Network (MLP)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hidden_layers=(50, 25)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98.68%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96.49%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97.18%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Member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Support Vector Machine (SVM)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C=5.0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98.25%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98.61%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98.61%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Member 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n_estimators=150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96.04%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95.61%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97.22%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96.55%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Member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learning_rate=0.5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96.48%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95.61%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98.61%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96.60%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Member 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k-Nearest Neighbors (k-NN)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n_neighbors=3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96.92%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98.25%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98.63%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Member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max_depth=4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93.85%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93.86%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94.44%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95.10%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Member 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C=0.1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98.02%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97.37%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98.61%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97.93%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Member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Gaussian Naive Bayes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var_smoothing=1.0e-01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93.63%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94.74%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97.22%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1E1E"/>
                          </a:solidFill>
                        </a:defRPr>
                      </a:pPr>
                      <a:r>
                        <a:t>95.89%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DATA MINING GROUP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33C"/>
                </a:solidFill>
              </a:defRPr>
            </a:pPr>
            <a:r>
              <a:t>Comparative Performance Visualization &amp; Key Takeaways</a:t>
            </a:r>
          </a:p>
        </p:txBody>
      </p:sp>
      <p:pic>
        <p:nvPicPr>
          <p:cNvPr id="4" name="Picture 3" descr="all_8_algorithm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371600"/>
            <a:ext cx="384048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defRPr sz="1600" b="1">
                <a:solidFill>
                  <a:srgbClr val="14233C"/>
                </a:solidFill>
              </a:defRPr>
            </a:pPr>
            <a:r>
              <a:t>Key Analytical Insights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• Top Performers: SVM (98.25%) and k-NN (98.25%) achieved highest test accuracy.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• Clinical Sensitivity: k-NN achieved 100% recall (0 false negatives), crucial for medical safety.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• Smooth Boundaries Win: Neural Networks, SVM &amp; Logistic Regression outperformed tree models due to smooth continuous feature scaling.</a:t>
            </a:r>
          </a:p>
          <a:p>
            <a:pPr>
              <a:defRPr sz="1100">
                <a:solidFill>
                  <a:srgbClr val="1E1E1E"/>
                </a:solidFill>
              </a:defRPr>
            </a:pPr>
            <a:r>
              <a:t>• Tree Limitations: Single Decision Tree (93.86%) struggled with complex diagonal feature boundaries.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DATA MINING GROUP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33C"/>
                </a:solidFill>
              </a:defRPr>
            </a:pPr>
            <a:r>
              <a:t>Discussion, Conclusions &amp; Future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D2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800" b="1">
                <a:solidFill>
                  <a:srgbClr val="14233C"/>
                </a:solidFill>
              </a:defRPr>
            </a:pPr>
            <a:r>
              <a:t>Project Conclusions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Sensitivity analysis is essential: Parameter tuning (e.g., SVM C, MLP topology, GBDT learning rate) improved accuracy by 2% to 35% compared to default settings.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Fair benchmarking validated: Standardized 80/20 split and Z-score scaling enabled rigorous algorithm comparison.</a:t>
            </a:r>
          </a:p>
          <a:p>
            <a:pPr>
              <a:defRPr sz="1300">
                <a:solidFill>
                  <a:srgbClr val="1E1E1E"/>
                </a:solidFill>
              </a:defRPr>
            </a:pPr>
            <a:r>
              <a:t>• Medical deployment choice: Support Vector Machine (C=5.0) and k-NN (k=3) are recommended for automated FNA diagnosis.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36576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>
              <a:defRPr sz="2000">
                <a:solidFill>
                  <a:srgbClr val="B4CDEB"/>
                </a:solidFill>
              </a:defRPr>
            </a:pPr>
            <a:r>
              <a:t>Questions &amp; Discussion</a:t>
            </a:r>
          </a:p>
          <a:p>
            <a:br/>
            <a:pPr>
              <a:defRPr sz="1300">
                <a:solidFill>
                  <a:srgbClr val="DCE6F5"/>
                </a:solidFill>
              </a:defRPr>
            </a:pPr>
            <a:r>
              <a:t>Codebase Repository &amp; Results:</a:t>
            </a:r>
            <a:br/>
            <a:r>
              <a:t>c:\Users\palak\Data_Mining</a:t>
            </a:r>
            <a:br/>
            <a:br/>
            <a:r>
              <a:t>All 8 algorithm modules, dataset pipeline, and sensitivity plots ready for grading.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